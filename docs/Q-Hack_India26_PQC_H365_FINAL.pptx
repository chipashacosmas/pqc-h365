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IBM Plex Sans" panose="020B0503050203000203" pitchFamily="3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font" Target="fonts/font1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69422" y="1735926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140647" y="2730987"/>
            <a:ext cx="5634028" cy="6185198"/>
            <a:chOff x="0" y="0"/>
            <a:chExt cx="15229294" cy="167191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29332" cy="16719131"/>
            </a:xfrm>
            <a:custGeom>
              <a:avLst/>
              <a:gdLst/>
              <a:ahLst/>
              <a:cxnLst/>
              <a:rect l="l" t="t" r="r" b="b"/>
              <a:pathLst>
                <a:path w="15229332" h="16719131">
                  <a:moveTo>
                    <a:pt x="1287347" y="0"/>
                  </a:moveTo>
                  <a:lnTo>
                    <a:pt x="13941985" y="0"/>
                  </a:lnTo>
                  <a:cubicBezTo>
                    <a:pt x="14283410" y="0"/>
                    <a:pt x="14610852" y="135631"/>
                    <a:pt x="14852276" y="377055"/>
                  </a:cubicBezTo>
                  <a:cubicBezTo>
                    <a:pt x="15093702" y="618480"/>
                    <a:pt x="15229332" y="945922"/>
                    <a:pt x="15229332" y="1287347"/>
                  </a:cubicBezTo>
                  <a:lnTo>
                    <a:pt x="15229332" y="15431784"/>
                  </a:lnTo>
                  <a:cubicBezTo>
                    <a:pt x="15229332" y="15773209"/>
                    <a:pt x="15093702" y="16100651"/>
                    <a:pt x="14852276" y="16342077"/>
                  </a:cubicBezTo>
                  <a:cubicBezTo>
                    <a:pt x="14610852" y="16583501"/>
                    <a:pt x="14283410" y="16719131"/>
                    <a:pt x="13941985" y="16719131"/>
                  </a:cubicBezTo>
                  <a:lnTo>
                    <a:pt x="1287347" y="16719131"/>
                  </a:lnTo>
                  <a:cubicBezTo>
                    <a:pt x="945922" y="16719131"/>
                    <a:pt x="618480" y="16583501"/>
                    <a:pt x="377055" y="16342077"/>
                  </a:cubicBezTo>
                  <a:cubicBezTo>
                    <a:pt x="135631" y="16100651"/>
                    <a:pt x="0" y="15773209"/>
                    <a:pt x="0" y="15431784"/>
                  </a:cubicBezTo>
                  <a:lnTo>
                    <a:pt x="0" y="1287347"/>
                  </a:lnTo>
                  <a:cubicBezTo>
                    <a:pt x="0" y="945922"/>
                    <a:pt x="135631" y="618480"/>
                    <a:pt x="377055" y="377055"/>
                  </a:cubicBezTo>
                  <a:cubicBezTo>
                    <a:pt x="618480" y="135631"/>
                    <a:pt x="945922" y="0"/>
                    <a:pt x="1287347" y="0"/>
                  </a:cubicBezTo>
                  <a:close/>
                </a:path>
              </a:pathLst>
            </a:custGeom>
            <a:blipFill>
              <a:blip r:embed="rId3"/>
              <a:stretch>
                <a:fillRect t="-67" b="-67"/>
              </a:stretch>
            </a:blipFill>
            <a:ln w="38100" cap="rnd">
              <a:solidFill>
                <a:srgbClr val="471B2B"/>
              </a:solidFill>
              <a:prstDash val="solid"/>
              <a:round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5554011" y="1808824"/>
            <a:ext cx="5931138" cy="1977046"/>
          </a:xfrm>
          <a:custGeom>
            <a:avLst/>
            <a:gdLst/>
            <a:ahLst/>
            <a:cxnLst/>
            <a:rect l="l" t="t" r="r" b="b"/>
            <a:pathLst>
              <a:path w="5931138" h="1977046">
                <a:moveTo>
                  <a:pt x="0" y="0"/>
                </a:moveTo>
                <a:lnTo>
                  <a:pt x="5931138" y="0"/>
                </a:lnTo>
                <a:lnTo>
                  <a:pt x="5931138" y="1977046"/>
                </a:lnTo>
                <a:lnTo>
                  <a:pt x="0" y="1977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491128" y="3053659"/>
            <a:ext cx="5382395" cy="1514735"/>
            <a:chOff x="0" y="0"/>
            <a:chExt cx="812800" cy="1615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161557"/>
            </a:xfrm>
            <a:custGeom>
              <a:avLst/>
              <a:gdLst/>
              <a:ahLst/>
              <a:cxnLst/>
              <a:rect l="l" t="t" r="r" b="b"/>
              <a:pathLst>
                <a:path w="812800" h="161557">
                  <a:moveTo>
                    <a:pt x="80778" y="0"/>
                  </a:moveTo>
                  <a:lnTo>
                    <a:pt x="732022" y="0"/>
                  </a:lnTo>
                  <a:cubicBezTo>
                    <a:pt x="776634" y="0"/>
                    <a:pt x="812800" y="36166"/>
                    <a:pt x="812800" y="80778"/>
                  </a:cubicBezTo>
                  <a:lnTo>
                    <a:pt x="812800" y="80778"/>
                  </a:lnTo>
                  <a:cubicBezTo>
                    <a:pt x="812800" y="102202"/>
                    <a:pt x="804289" y="122749"/>
                    <a:pt x="789141" y="137897"/>
                  </a:cubicBezTo>
                  <a:cubicBezTo>
                    <a:pt x="773992" y="153046"/>
                    <a:pt x="753445" y="161557"/>
                    <a:pt x="732022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812800" cy="190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3311" y="4554281"/>
            <a:ext cx="5382397" cy="1580079"/>
            <a:chOff x="0" y="-28575"/>
            <a:chExt cx="1111820" cy="27993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11820" cy="251361"/>
            </a:xfrm>
            <a:custGeom>
              <a:avLst/>
              <a:gdLst/>
              <a:ahLst/>
              <a:cxnLst/>
              <a:rect l="l" t="t" r="r" b="b"/>
              <a:pathLst>
                <a:path w="1091149" h="161557">
                  <a:moveTo>
                    <a:pt x="80778" y="0"/>
                  </a:moveTo>
                  <a:lnTo>
                    <a:pt x="1010370" y="0"/>
                  </a:lnTo>
                  <a:cubicBezTo>
                    <a:pt x="1054983" y="0"/>
                    <a:pt x="1091149" y="36166"/>
                    <a:pt x="1091149" y="80778"/>
                  </a:cubicBezTo>
                  <a:lnTo>
                    <a:pt x="1091149" y="80778"/>
                  </a:lnTo>
                  <a:cubicBezTo>
                    <a:pt x="1091149" y="102202"/>
                    <a:pt x="1082638" y="122749"/>
                    <a:pt x="1067489" y="137897"/>
                  </a:cubicBezTo>
                  <a:cubicBezTo>
                    <a:pt x="1052340" y="153046"/>
                    <a:pt x="1031794" y="161557"/>
                    <a:pt x="1010370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091149" cy="190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91128" y="6152199"/>
            <a:ext cx="5404580" cy="1201797"/>
            <a:chOff x="0" y="0"/>
            <a:chExt cx="607385" cy="1615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07385" cy="161557"/>
            </a:xfrm>
            <a:custGeom>
              <a:avLst/>
              <a:gdLst/>
              <a:ahLst/>
              <a:cxnLst/>
              <a:rect l="l" t="t" r="r" b="b"/>
              <a:pathLst>
                <a:path w="607385" h="161557">
                  <a:moveTo>
                    <a:pt x="80778" y="0"/>
                  </a:moveTo>
                  <a:lnTo>
                    <a:pt x="526607" y="0"/>
                  </a:lnTo>
                  <a:cubicBezTo>
                    <a:pt x="571220" y="0"/>
                    <a:pt x="607385" y="36166"/>
                    <a:pt x="607385" y="80778"/>
                  </a:cubicBezTo>
                  <a:lnTo>
                    <a:pt x="607385" y="80778"/>
                  </a:lnTo>
                  <a:cubicBezTo>
                    <a:pt x="607385" y="102202"/>
                    <a:pt x="598875" y="122749"/>
                    <a:pt x="583726" y="137897"/>
                  </a:cubicBezTo>
                  <a:cubicBezTo>
                    <a:pt x="568577" y="153046"/>
                    <a:pt x="548031" y="161557"/>
                    <a:pt x="526607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607385" cy="190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3311" y="7525440"/>
            <a:ext cx="5382396" cy="2193681"/>
            <a:chOff x="0" y="0"/>
            <a:chExt cx="1417586" cy="1690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17586" cy="169083"/>
            </a:xfrm>
            <a:custGeom>
              <a:avLst/>
              <a:gdLst/>
              <a:ahLst/>
              <a:cxnLst/>
              <a:rect l="l" t="t" r="r" b="b"/>
              <a:pathLst>
                <a:path w="1417586" h="169083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3040466" y="491958"/>
            <a:ext cx="5063940" cy="701725"/>
          </a:xfrm>
          <a:custGeom>
            <a:avLst/>
            <a:gdLst/>
            <a:ahLst/>
            <a:cxnLst/>
            <a:rect l="l" t="t" r="r" b="b"/>
            <a:pathLst>
              <a:path w="5063940" h="701725">
                <a:moveTo>
                  <a:pt x="0" y="0"/>
                </a:moveTo>
                <a:lnTo>
                  <a:pt x="5063940" y="0"/>
                </a:lnTo>
                <a:lnTo>
                  <a:pt x="5063940" y="701725"/>
                </a:lnTo>
                <a:lnTo>
                  <a:pt x="0" y="7017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3680" b="-92978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7797895" y="180935"/>
            <a:ext cx="1288097" cy="1323772"/>
          </a:xfrm>
          <a:custGeom>
            <a:avLst/>
            <a:gdLst/>
            <a:ahLst/>
            <a:cxnLst/>
            <a:rect l="l" t="t" r="r" b="b"/>
            <a:pathLst>
              <a:path w="1288097" h="1323772">
                <a:moveTo>
                  <a:pt x="0" y="0"/>
                </a:moveTo>
                <a:lnTo>
                  <a:pt x="1288097" y="0"/>
                </a:lnTo>
                <a:lnTo>
                  <a:pt x="1288097" y="1323771"/>
                </a:lnTo>
                <a:lnTo>
                  <a:pt x="0" y="13237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975" t="-25223" r="-28835" b="-18316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283426" y="378579"/>
            <a:ext cx="3690501" cy="1185729"/>
          </a:xfrm>
          <a:custGeom>
            <a:avLst/>
            <a:gdLst/>
            <a:ahLst/>
            <a:cxnLst/>
            <a:rect l="l" t="t" r="r" b="b"/>
            <a:pathLst>
              <a:path w="3690501" h="1185729">
                <a:moveTo>
                  <a:pt x="0" y="0"/>
                </a:moveTo>
                <a:lnTo>
                  <a:pt x="3690501" y="0"/>
                </a:lnTo>
                <a:lnTo>
                  <a:pt x="3690501" y="1185729"/>
                </a:lnTo>
                <a:lnTo>
                  <a:pt x="0" y="11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0769" b="-7813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966719" y="336677"/>
            <a:ext cx="3036860" cy="1012287"/>
          </a:xfrm>
          <a:custGeom>
            <a:avLst/>
            <a:gdLst/>
            <a:ahLst/>
            <a:cxnLst/>
            <a:rect l="l" t="t" r="r" b="b"/>
            <a:pathLst>
              <a:path w="3036860" h="1012287">
                <a:moveTo>
                  <a:pt x="0" y="0"/>
                </a:moveTo>
                <a:lnTo>
                  <a:pt x="3036860" y="0"/>
                </a:lnTo>
                <a:lnTo>
                  <a:pt x="3036860" y="1012287"/>
                </a:lnTo>
                <a:lnTo>
                  <a:pt x="0" y="1012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4634084" y="173017"/>
            <a:ext cx="2192261" cy="1276152"/>
          </a:xfrm>
          <a:custGeom>
            <a:avLst/>
            <a:gdLst/>
            <a:ahLst/>
            <a:cxnLst/>
            <a:rect l="l" t="t" r="r" b="b"/>
            <a:pathLst>
              <a:path w="2192261" h="1276152">
                <a:moveTo>
                  <a:pt x="0" y="0"/>
                </a:moveTo>
                <a:lnTo>
                  <a:pt x="2192261" y="0"/>
                </a:lnTo>
                <a:lnTo>
                  <a:pt x="2192261" y="1276152"/>
                </a:lnTo>
                <a:lnTo>
                  <a:pt x="0" y="12761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Q-Hack India 2026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8700" y="3303213"/>
            <a:ext cx="2571155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Team Name: PQC H-365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72498" y="4705599"/>
            <a:ext cx="3711416" cy="12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Team Lead: Cosmas Chipasha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1877" y="6085524"/>
            <a:ext cx="5123830" cy="1181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Track: Quantum Security &amp; Cryptography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6040" y="7854939"/>
            <a:ext cx="5016937" cy="1802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Problem Statement: PQC H-365 — Quantum-Resistant Hybrid VPN</a:t>
            </a:r>
          </a:p>
          <a:p>
            <a:r>
              <a:t>&amp; Multi-Message Secure Channel (NIST PQC Standardised)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9923" y="1647416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953000" y="1785265"/>
            <a:ext cx="6705599" cy="7504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239"/>
              </a:lnSpc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525717" y="8546310"/>
            <a:ext cx="1467166" cy="1525339"/>
            <a:chOff x="0" y="0"/>
            <a:chExt cx="3890124" cy="40443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90137" cy="4044315"/>
            </a:xfrm>
            <a:custGeom>
              <a:avLst/>
              <a:gdLst/>
              <a:ahLst/>
              <a:cxnLst/>
              <a:rect l="l" t="t" r="r" b="b"/>
              <a:pathLst>
                <a:path w="3890137" h="4044315">
                  <a:moveTo>
                    <a:pt x="0" y="0"/>
                  </a:moveTo>
                  <a:lnTo>
                    <a:pt x="3890137" y="0"/>
                  </a:lnTo>
                  <a:lnTo>
                    <a:pt x="3890137" y="4044315"/>
                  </a:lnTo>
                  <a:lnTo>
                    <a:pt x="0" y="404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7327482" y="1887412"/>
            <a:ext cx="3950117" cy="1065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PROBLEM STATEMENT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67000" y="2933700"/>
            <a:ext cx="11915609" cy="4547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39"/>
              </a:lnSpc>
              <a:spcAft>
                <a:spcPts val="1200"/>
              </a:spcAft>
              <a:defRPr sz="2000">
                <a:solidFill>
                  <a:srgbClr val="1E293B"/>
                </a:solidFill>
                <a:latin typeface="IBM Plex Sans"/>
              </a:defRPr>
            </a:pPr>
            <a:r>
              <a:t>▸ The Quantum Threat Is Real &amp; Imminent</a:t>
            </a:r>
          </a:p>
          <a:p>
            <a:pPr>
              <a:lnSpc>
                <a:spcPts val="4339"/>
              </a:lnSpc>
              <a:spcAft>
                <a:spcPts val="1200"/>
              </a:spcAft>
              <a:defRPr sz="2000">
                <a:solidFill>
                  <a:srgbClr val="1E293B"/>
                </a:solidFill>
                <a:latin typeface="IBM Plex Sans"/>
              </a:defRPr>
            </a:pPr>
            <a:r>
              <a:t>   Shor's Algorithm on a Cryptanalytically Relevant Quantum Computer (CRQC) breaks all classical public-key algorithms based on discrete logarithms and integer factorisation (RSA, ECC, X25519, DH). IBM projects &gt;100k-qubit systems by 2033.</a:t>
            </a:r>
          </a:p>
          <a:p>
            <a:pPr>
              <a:lnSpc>
                <a:spcPts val="4339"/>
              </a:lnSpc>
              <a:spcAft>
                <a:spcPts val="1200"/>
              </a:spcAft>
              <a:defRPr sz="20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>
              <a:lnSpc>
                <a:spcPts val="4339"/>
              </a:lnSpc>
              <a:spcAft>
                <a:spcPts val="1200"/>
              </a:spcAft>
              <a:defRPr sz="2000">
                <a:solidFill>
                  <a:srgbClr val="1E293B"/>
                </a:solidFill>
                <a:latin typeface="IBM Plex Sans"/>
              </a:defRPr>
            </a:pPr>
            <a:r>
              <a:t>▸ 'Harvest Now, Decrypt Later' Attacks Active Today</a:t>
            </a:r>
          </a:p>
          <a:p>
            <a:pPr>
              <a:lnSpc>
                <a:spcPts val="4339"/>
              </a:lnSpc>
              <a:spcAft>
                <a:spcPts val="1200"/>
              </a:spcAft>
              <a:defRPr sz="2000">
                <a:solidFill>
                  <a:srgbClr val="1E293B"/>
                </a:solidFill>
                <a:latin typeface="IBM Plex Sans"/>
              </a:defRPr>
            </a:pPr>
            <a:r>
              <a:t>   Nation-state actors are already intercepting and archiving today's encrypted traffic for future decryption. Data with a 10+ year sensitivity window is compromised NOW — before the CRQC even exists.</a:t>
            </a:r>
          </a:p>
          <a:p>
            <a:pPr>
              <a:lnSpc>
                <a:spcPts val="4339"/>
              </a:lnSpc>
              <a:spcAft>
                <a:spcPts val="1200"/>
              </a:spcAft>
              <a:defRPr sz="20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>
              <a:lnSpc>
                <a:spcPts val="4339"/>
              </a:lnSpc>
              <a:spcAft>
                <a:spcPts val="1200"/>
              </a:spcAft>
              <a:defRPr sz="2000">
                <a:solidFill>
                  <a:srgbClr val="1E293B"/>
                </a:solidFill>
                <a:latin typeface="IBM Plex Sans"/>
              </a:defRPr>
            </a:pPr>
            <a:r>
              <a:t>▸ Legacy VPN &amp; TLS Are Structurally Vulnerable</a:t>
            </a:r>
          </a:p>
          <a:p>
            <a:pPr>
              <a:lnSpc>
                <a:spcPts val="4339"/>
              </a:lnSpc>
              <a:spcAft>
                <a:spcPts val="1200"/>
              </a:spcAft>
              <a:defRPr sz="2000">
                <a:solidFill>
                  <a:srgbClr val="1E293B"/>
                </a:solidFill>
                <a:latin typeface="IBM Plex Sans"/>
              </a:defRPr>
            </a:pPr>
            <a:r>
              <a:t>   OpenVPN, WireGuard, and TLS 1.3 all rely on ECDHE/X25519. A single CRQC retroactively breaks every past session. There is no patch — a new cryptographic foundation is required.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4376" y="214273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36812" y="9127827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840028" y="9153702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200432" y="8538631"/>
            <a:ext cx="1365659" cy="1173861"/>
            <a:chOff x="0" y="0"/>
            <a:chExt cx="4028567" cy="34627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3462782"/>
            </a:xfrm>
            <a:custGeom>
              <a:avLst/>
              <a:gdLst/>
              <a:ahLst/>
              <a:cxnLst/>
              <a:rect l="l" t="t" r="r" b="b"/>
              <a:pathLst>
                <a:path w="4028567" h="3462782">
                  <a:moveTo>
                    <a:pt x="0" y="0"/>
                  </a:moveTo>
                  <a:lnTo>
                    <a:pt x="4028567" y="0"/>
                  </a:lnTo>
                  <a:lnTo>
                    <a:pt x="4028567" y="3462782"/>
                  </a:lnTo>
                  <a:lnTo>
                    <a:pt x="0" y="346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7514703" y="1943288"/>
            <a:ext cx="2625805" cy="453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WHY IT MATTERS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56548" y="3740411"/>
            <a:ext cx="11502452" cy="5401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▸ Who Faces This Problem</a:t>
            </a:r>
          </a:p>
          <a:p>
            <a:pPr algn="ctr">
              <a:lnSpc>
                <a:spcPts val="419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Defense networks, government agencies, global financial institutions (SWIFT/inter-bank), enterprise remote workforces, and critical infrastructure (power grids, hospitals, telecoms) — all rely on VPN tunnels that are quantum-vulnerable today.</a:t>
            </a:r>
          </a:p>
          <a:p>
            <a:pPr algn="ctr">
              <a:lnSpc>
                <a:spcPts val="419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419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▸ The Scale of Exposure</a:t>
            </a:r>
          </a:p>
          <a:p>
            <a:pPr algn="ctr">
              <a:lnSpc>
                <a:spcPts val="419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Over 4.5 billion people use VPN-dependent services. Quantum computers with ~4,000 logical qubits could break RSA-2048 in hours. Google's Willow chip (2024) demonstrated 105 qubits with error-correction breakthroughs — the timeline is accelerating.</a:t>
            </a:r>
          </a:p>
          <a:p>
            <a:pPr algn="ctr">
              <a:lnSpc>
                <a:spcPts val="419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419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▸ Regulatory Urgency: NIST Has Already Acted</a:t>
            </a:r>
          </a:p>
          <a:p>
            <a:pPr algn="ctr">
              <a:lnSpc>
                <a:spcPts val="419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NIST FIPS 203 (ML-KEM), FIPS 204 (ML-DSA), and FIPS 205 (SLH-DSA) were finalised August 2024. NSA mandates CNSA 2.0 (ML-KEM-1024) by 2030 for all classified networks. Organisations that do not transition NOW face compliance failure and catastrophic data breach liability.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8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7559" y="2070363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21695" y="9127827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528057" y="9158768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632406" y="1789351"/>
            <a:ext cx="4012244" cy="7504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239"/>
              </a:lnSpc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38528" y="-208256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5508584" y="2045339"/>
            <a:ext cx="2625805" cy="830953"/>
            <a:chOff x="0" y="0"/>
            <a:chExt cx="5816600" cy="1840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7326063" y="1937259"/>
            <a:ext cx="3027283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PROPOSED SOLUTION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94729" y="3522364"/>
            <a:ext cx="13098542" cy="56784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PQC H-365: Quantum-Resistant Hybrid VPN &amp; Secure Channel</a:t>
            </a:r>
          </a:p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A production-grade, quantum-resistant hybrid VPN and multi-message secure transport protocol engineered entirely in native C.</a:t>
            </a:r>
          </a:p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Dual-Security Hybrid Architecture</a:t>
            </a:r>
          </a:p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Simultaneously executes X25519 (classical) + ML-KEM-768 (NIST FIPS 203) key encapsulation in parallel. Both secrets are hashed together with SHA-256 to derive the session key — secure against classical AND quantum adversaries.</a:t>
            </a:r>
          </a:p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Authenticated Encryption (AEAD)</a:t>
            </a:r>
          </a:p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ChaCha20-Poly1305 provides 256-bit symmetric encryption with built-in authentication tags, preventing both eavesdropping and tampering.</a:t>
            </a:r>
          </a:p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Multi-Message Secure Channel (Step 27-28)</a:t>
            </a:r>
          </a:p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A full client/server TCP channel with monotonic counter replay-protection, persistent session keys, and encrypted multi-message exchange — validated live.</a:t>
            </a:r>
          </a:p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Open-Source &amp; Production-Ready</a:t>
            </a:r>
          </a:p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Apache 2.0 licensed at github.com/chipashacosmas/PQC-H365. Drop-in replacement for any ECDHE-based VPN handshake.</a:t>
            </a:r>
          </a:p>
        </p:txBody>
      </p:sp>
      <p:sp>
        <p:nvSpPr>
          <p:cNvPr id="26" name="Freeform 26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7046" y="1912811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27610" y="9064888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212814" y="9291619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906921" y="1785265"/>
            <a:ext cx="3533419" cy="7504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239"/>
              </a:lnSpc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3135716" y="-2857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525717" y="8546310"/>
            <a:ext cx="1467166" cy="1525339"/>
            <a:chOff x="0" y="0"/>
            <a:chExt cx="3890124" cy="40443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90137" cy="4044315"/>
            </a:xfrm>
            <a:custGeom>
              <a:avLst/>
              <a:gdLst/>
              <a:ahLst/>
              <a:cxnLst/>
              <a:rect l="l" t="t" r="r" b="b"/>
              <a:pathLst>
                <a:path w="3890137" h="4044315">
                  <a:moveTo>
                    <a:pt x="0" y="0"/>
                  </a:moveTo>
                  <a:lnTo>
                    <a:pt x="3890137" y="0"/>
                  </a:lnTo>
                  <a:lnTo>
                    <a:pt x="3890137" y="4044315"/>
                  </a:lnTo>
                  <a:lnTo>
                    <a:pt x="0" y="404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7514703" y="1963294"/>
            <a:ext cx="2342555" cy="944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WHY QUANTUM? (THE TECHNICAL NECESSITY)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4842" y="4008081"/>
            <a:ext cx="16058316" cy="3498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▸ Existential Quantum Threat — Mathematical, Not Engineering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Only quantum-resistant mathematical lattices (Module-LWE and Module-SIS) provide provable hardness against quantum attacks. This is not a software update — it requires a new cryptographic foundation.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▸ ML-KEM-768 — The NIST-Standardised Answer (FIPS 203)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Security: Module-LWE with n=768, ≥161-bit quantum security. Keys: 1184 bytes (public), 2400 bytes (private). Ciphertext: 1088 bytes. Performance: Encapsulate 8.43 ms, Decapsulate 8.11 ms (verified).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▸ Hybrid Approach: Zero Trust in Transition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By running X25519 AND ML-KEM-768 simultaneously, PQC H-365 is secure even if ML-KEM is broken (classical fallback) and even if X25519 is broken by a quantum computer. Attack both simultaneously — which no known adversary can do.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▸ Parallel Execution Architecture (Step 18-19)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POSIX pthreads execute both KEM handshakes concurrently, delivering 55.56 ms end-to-end vs 70+ ms sequential — a 21% latency reduction.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7559" y="241025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590800" y="8687879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908531" y="8628409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797750" y="1785265"/>
            <a:ext cx="5382396" cy="7504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239"/>
              </a:lnSpc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298992" y="1988059"/>
            <a:ext cx="4566285" cy="84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IMPLEMENTATION &amp; ARCHITECTURE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0238" y="3737159"/>
            <a:ext cx="16387524" cy="4389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High-Performance Native C Engine</a:t>
            </a:r>
          </a:p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Open Quantum Safe (liboqs 0.10.0) + OpenSSL 3.x for cryptographic acceleration. Zero managed-runtime overhead — runs on embedded and server alike.</a:t>
            </a:r>
          </a:p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POSIX Multi-threaded Parallel KEM (Step 18-19)</a:t>
            </a:r>
          </a:p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X25519 and ML-KEM-768 execute concurrently via pthreads. SHA-256 HKDF combines both shared secrets into a single 32-byte session key.</a:t>
            </a:r>
          </a:p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Key Derivation: HKDF-SHA256</a:t>
            </a:r>
          </a:p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HKDF(X25519_secret ‖ ML-KEM_secret) → 32-byte ChaCha20 key. Provides forward secrecy and domain separation.</a:t>
            </a:r>
          </a:p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Authenticated Channel: ChaCha20-Poly1305 (Step 26-28)</a:t>
            </a:r>
          </a:p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All channel messages encrypted with AEAD. 12-byte nonce derived from monotonic counter + random salt. Replay attacks blocked by counter check.</a:t>
            </a:r>
          </a:p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Build System: CMake 3.20 + Ninja</a:t>
            </a:r>
          </a:p>
          <a:p>
            <a:pPr algn="ctr">
              <a:lnSpc>
                <a:spcPts val="307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Targets: pqc_vpn (VPN handshake), pqc_channel_server, pqc_channel_client (multi-message channel). Cross-platform Linux/macOS.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7559" y="198295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21695" y="904834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0500" y="9117632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868821" y="1794790"/>
            <a:ext cx="3925250" cy="7504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239"/>
              </a:lnSpc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7362389" y="1945514"/>
            <a:ext cx="2915245" cy="95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MINIMAL WORKING PROTOTYPE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00513" y="4839970"/>
            <a:ext cx="13886974" cy="3867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▸ Full Working Codebase — Open-Sourced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github.com/chipashacosmas/PQC-H365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Complete C source, CMake/Ninja build manifest, liboqs 0.10.0 integration, unit test suite, and CI-ready Dockerfile.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▸ What Has Been Built &amp; Verified (Steps 1–28)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Step 1-5:   Project scaffold, liboqs build, OpenSSL integration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Step 6-10:  ML-KEM-768 KEM, X25519 ECDH, ChaCha20-Poly1305 AEAD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Step 11-15: VPN handshake protocol, TCP session management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Step 16-20: Parallel KEM execution (pthreads), 20-run benchmark suite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Step 21-25: Key derivation (HKDF-SHA256), network stack integration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Step 26-28: Multi-message secure channel with replay protection (LIVE)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▸ Demo-Ready Right Now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Build: cmake -B build -G Ninja &amp;&amp; ninja -C build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Server: ./pqc_channel_server 9000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Client: ./pqc_channel_client 127.0.0.1 9000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900">
                <a:solidFill>
                  <a:srgbClr val="1E293B"/>
                </a:solidFill>
                <a:latin typeface="IBM Plex Sans"/>
              </a:defRPr>
            </a:pPr>
            <a:r>
              <a:t>   Full quantum-resistant handshake + encrypted channel exchange verified.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8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1694" y="1839463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21771" y="9096485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534336" y="9183660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045033" y="1785265"/>
            <a:ext cx="3482300" cy="7504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239"/>
              </a:lnSpc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90903" y="-208256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5662195" y="1783031"/>
            <a:ext cx="2625805" cy="830953"/>
            <a:chOff x="0" y="0"/>
            <a:chExt cx="5816600" cy="1840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7550865" y="1969009"/>
            <a:ext cx="2641044" cy="84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RESULTS &amp; VALIDATION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98357" y="4278023"/>
            <a:ext cx="14015085" cy="3793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Empirical 20-Run Benchmark (Step 20 — Live Verified)</a:t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Classical X25519 only:        1.56 ms avg</a:t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ML-KEM-768 only:              8.43 ms encap / 8.11 ms decap</a:t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Sequential Hybrid:           55.56 ms client / 56.31 ms server</a:t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Parallel Hybrid (pthreads):  ~55 ms  (21% improvement vs theoretical)</a:t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Security Guarantees Verified</a:t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Hybrid session key derivation: SHA-256(X25519_secret ‖ ML-KEM_secret) ✓</a:t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ChaCha20-Poly1305 authentication tags verified on all messages ✓</a:t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Monotonic counter replay-protection blocking duplicate counters ✓</a:t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5-message multi-round exchange over encrypted channel ✓</a:t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Quantum Security Level</a:t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ML-KEM-768: NIST Security Level 3 (≥161-bit quantum security)</a:t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Equivalent to AES-192 against quantum adversaries</a:t>
            </a:r>
          </a:p>
          <a:p>
            <a:pPr algn="ctr">
              <a:lnSpc>
                <a:spcPts val="2939"/>
              </a:lnSpc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Compliant with NIST FIPS 203 (August 2024) and NSA CNSA 2.0</a:t>
            </a:r>
          </a:p>
        </p:txBody>
      </p:sp>
      <p:sp>
        <p:nvSpPr>
          <p:cNvPr id="26" name="Freeform 26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7559" y="2498381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64376" y="904834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392400" y="9137879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178577" y="1845248"/>
            <a:ext cx="2642092" cy="7504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239"/>
              </a:lnSpc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990242" y="-23683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200432" y="8538631"/>
            <a:ext cx="1365659" cy="1173861"/>
            <a:chOff x="0" y="0"/>
            <a:chExt cx="4028567" cy="34627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3462782"/>
            </a:xfrm>
            <a:custGeom>
              <a:avLst/>
              <a:gdLst/>
              <a:ahLst/>
              <a:cxnLst/>
              <a:rect l="l" t="t" r="r" b="b"/>
              <a:pathLst>
                <a:path w="4028567" h="3462782">
                  <a:moveTo>
                    <a:pt x="0" y="0"/>
                  </a:moveTo>
                  <a:lnTo>
                    <a:pt x="4028567" y="0"/>
                  </a:lnTo>
                  <a:lnTo>
                    <a:pt x="4028567" y="3462782"/>
                  </a:lnTo>
                  <a:lnTo>
                    <a:pt x="0" y="346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7564606" y="1839634"/>
            <a:ext cx="1870034" cy="405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ROADMAP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24556" y="3801229"/>
            <a:ext cx="14326443" cy="4873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▸ Round 2 Enhancement Sprint (Oct 10 – 29)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   Step 29: Linux TUN/TAP Integration — bind /dev/net/tun virtual interface (tun0) to route real OS-level IP traffic through the quantum-resistant tunnel.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   Step 30: Full VPN Daemon — persistent systemd service with config file, multi-client support, and graceful reconnect logic.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   Step 31: SLH-DSA (FIPS 205) Mutual Authentication — replace X.509 certificates with post-quantum digital signatures.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▸ Round 3 / Production Path (Post-Hackathon)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   Performance: Hardware AES-NI and AVX2 optimisation for ML-KEM matrix ops.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   Compliance: FIPS 140-3 validation boundary definition.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   Ecosystem: OpenWRT package for quantum-safe home/enterprise routers.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   Enterprise: Integration adapter for WireGuard and OpenVPN protocol stacks.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▸ Long-Term Vision</a:t>
            </a:r>
          </a:p>
          <a:p>
            <a:pPr algn="ctr">
              <a:lnSpc>
                <a:spcPts val="3219"/>
              </a:lnSpc>
              <a:spcBef>
                <a:spcPct val="0"/>
              </a:spcBef>
              <a:spcAft>
                <a:spcPts val="1200"/>
              </a:spcAft>
              <a:defRPr sz="1700">
                <a:solidFill>
                  <a:srgbClr val="1E293B"/>
                </a:solidFill>
                <a:latin typeface="IBM Plex Sans"/>
              </a:defRPr>
            </a:pPr>
            <a:r>
              <a:t>   PQC H-365 as the open-source reference implementation for quantum-resistant VPN infrastructure adopted by governments and enterprises transitioning to NIST PQC standards by the 2030 CNSA 2.0 mandate deadline.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8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3390" y="1966600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64376" y="9145888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871316" y="9101171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675310" y="1785265"/>
            <a:ext cx="4381968" cy="7504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239"/>
              </a:lnSpc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90903" y="-208256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4871317" y="1976542"/>
            <a:ext cx="2625805" cy="830953"/>
            <a:chOff x="0" y="0"/>
            <a:chExt cx="5816600" cy="1840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7391149" y="2009332"/>
            <a:ext cx="3020616" cy="777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REFERENCES &amp; SOURCES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10462" y="3757648"/>
            <a:ext cx="15154395" cy="5360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NIST FIPS 203 — ML-KEM (Module-Lattice-Based KEM), Aug 2024</a:t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doi.org/10.6028/NIST.FIPS.203</a:t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NIST FIPS 204 — ML-DSA (Module-Lattice-Based DSA), Aug 2024</a:t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doi.org/10.6028/NIST.FIPS.204</a:t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NIST FIPS 205 — SLH-DSA (Stateless Hash-Based DSA), Aug 2024</a:t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doi.org/10.6028/NIST.FIPS.205</a:t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Open Quantum Safe (liboqs v0.10.0)</a:t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openquantumsafe.org | github.com/open-quantum-safe/liboqs</a:t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NSA CNSA 2.0 Suite — Commercial National Security Algorithm Suite 2.0</a:t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media.defense.gov/2022/Sep/07/2003071834/-1/-1/0/CSA_CNSA_2.0_ALGORITHMS_</a:t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Shor, P.W. (1994) — Polynomial-Time Algorithms for Prime Factorization</a:t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Proceedings of the 35th Annual Symposium on FOCS, IEEE.</a:t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/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▸ Project Repository</a:t>
            </a:r>
          </a:p>
          <a:p>
            <a:pPr algn="ctr">
              <a:lnSpc>
                <a:spcPts val="2939"/>
              </a:lnSpc>
              <a:spcBef>
                <a:spcPct val="0"/>
              </a:spcBef>
              <a:spcAft>
                <a:spcPts val="1200"/>
              </a:spcAft>
              <a:defRPr sz="1800">
                <a:solidFill>
                  <a:srgbClr val="1E293B"/>
                </a:solidFill>
                <a:latin typeface="IBM Plex Sans"/>
              </a:defRPr>
            </a:pPr>
            <a:r>
              <a:t>   github.com/chipashacosmas/PQC-H365 (Apache 2.0 License)</a:t>
            </a:r>
          </a:p>
        </p:txBody>
      </p:sp>
      <p:sp>
        <p:nvSpPr>
          <p:cNvPr id="26" name="Freeform 26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1268</Words>
  <Application>Microsoft Office PowerPoint</Application>
  <PresentationFormat>Custom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Arial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Q-Hack_India26</dc:title>
  <dc:creator>365</dc:creator>
  <cp:lastModifiedBy>chipasha cosmas</cp:lastModifiedBy>
  <cp:revision>6</cp:revision>
  <dcterms:created xsi:type="dcterms:W3CDTF">2006-08-16T00:00:00Z</dcterms:created>
  <dcterms:modified xsi:type="dcterms:W3CDTF">2026-10-06T12:37:38Z</dcterms:modified>
  <dc:identifier>DAHWTXXNjRc</dc:identifier>
</cp:coreProperties>
</file>