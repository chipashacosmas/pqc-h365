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87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M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9104EF-C2EE-4D86-B8EA-33E0378EE266}" type="datetimeFigureOut">
              <a:rPr lang="en-ZM" smtClean="0"/>
              <a:t>06/10/2026</a:t>
            </a:fld>
            <a:endParaRPr lang="en-ZM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M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M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M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6E7D22-39E0-4888-BA6F-7A26796E4ECC}" type="slidenum">
              <a:rPr lang="en-ZM" smtClean="0"/>
              <a:t>‹#›</a:t>
            </a:fld>
            <a:endParaRPr lang="en-ZM"/>
          </a:p>
        </p:txBody>
      </p:sp>
    </p:spTree>
    <p:extLst>
      <p:ext uri="{BB962C8B-B14F-4D97-AF65-F5344CB8AC3E}">
        <p14:creationId xmlns:p14="http://schemas.microsoft.com/office/powerpoint/2010/main" val="960295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M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6E7D22-39E0-4888-BA6F-7A26796E4ECC}" type="slidenum">
              <a:rPr lang="en-ZM" smtClean="0"/>
              <a:t>6</a:t>
            </a:fld>
            <a:endParaRPr lang="en-ZM"/>
          </a:p>
        </p:txBody>
      </p:sp>
    </p:spTree>
    <p:extLst>
      <p:ext uri="{BB962C8B-B14F-4D97-AF65-F5344CB8AC3E}">
        <p14:creationId xmlns:p14="http://schemas.microsoft.com/office/powerpoint/2010/main" val="3242765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69422" y="1735926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7444496" y="8515033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4259533" y="1368890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3605292" y="6669730"/>
            <a:ext cx="4283725" cy="3048000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-99195" y="2047140"/>
            <a:ext cx="5613398" cy="1646717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6084636" y="2515261"/>
            <a:ext cx="5382395" cy="1514735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109569" y="4206944"/>
            <a:ext cx="5382397" cy="1580079"/>
            <a:chOff x="0" y="-28575"/>
            <a:chExt cx="1111820" cy="27993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11820" cy="251361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087386" y="6175114"/>
            <a:ext cx="5404580" cy="1201797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528588" y="7551592"/>
            <a:ext cx="6917606" cy="2193681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82191" y="2574324"/>
            <a:ext cx="2571155" cy="1161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defRPr sz="2800" b="1">
                <a:latin typeface="IBM Plex San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Name: PQC H-365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6792" y="4399257"/>
            <a:ext cx="3711416" cy="120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  <a:defRPr sz="2400">
                <a:latin typeface="IBM Plex Sans"/>
              </a:defRPr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Lead Name: Cosmas Chipasha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344135" y="6127745"/>
            <a:ext cx="5123830" cy="11810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defRPr sz="2400" b="1">
                <a:latin typeface="IBM Plex San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Quantum Security &amp; Cryptography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384748" y="7679506"/>
            <a:ext cx="5931138" cy="1802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defRPr sz="2200"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title: PQC H-365: Quantum-Resistant Hybrid VPN &amp; Multi-Message Secure Channel</a:t>
            </a:r>
          </a:p>
        </p:txBody>
      </p:sp>
      <p:sp>
        <p:nvSpPr>
          <p:cNvPr id="41" name="Freeform 16">
            <a:extLst>
              <a:ext uri="{FF2B5EF4-FFF2-40B4-BE49-F238E27FC236}">
                <a16:creationId xmlns:a16="http://schemas.microsoft.com/office/drawing/2014/main" id="{C0C02B10-6C40-227A-969A-F01C527D4DD3}"/>
              </a:ext>
            </a:extLst>
          </p:cNvPr>
          <p:cNvSpPr/>
          <p:nvPr/>
        </p:nvSpPr>
        <p:spPr>
          <a:xfrm>
            <a:off x="-369893" y="8307821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4" name="Freeform 16">
            <a:extLst>
              <a:ext uri="{FF2B5EF4-FFF2-40B4-BE49-F238E27FC236}">
                <a16:creationId xmlns:a16="http://schemas.microsoft.com/office/drawing/2014/main" id="{736299CA-B89D-E78B-8086-43069A6698BC}"/>
              </a:ext>
            </a:extLst>
          </p:cNvPr>
          <p:cNvSpPr/>
          <p:nvPr/>
        </p:nvSpPr>
        <p:spPr>
          <a:xfrm>
            <a:off x="13003579" y="1735925"/>
            <a:ext cx="4452192" cy="1957931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9923" y="1647416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953000" y="1785265"/>
            <a:ext cx="6705599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4920343" y="1891789"/>
            <a:ext cx="6040141" cy="551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IBM Plex Sans"/>
                <a:cs typeface="Times New Roman" panose="02020603050405020304" pitchFamily="18" charset="0"/>
                <a:sym typeface="IBM Plex Sans"/>
              </a:rPr>
              <a:t>PROBLEM STATEMENT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67000" y="2933700"/>
            <a:ext cx="12573000" cy="5406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339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Shor's Algorithm on a Cryptanalytically Relevant Quantum Computer (CRQC) breaks all classical public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algorithms based on discrete logarithms and integer factorization (RSA-2048, Diffie-Hellman, ECDH/X25519).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4339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Harvest Now, Decrypt Later (HNDL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Hostile adversaries and nation-states are actively recording and storing enterprise and defense encrypted network traffic today to decrypt retrospectively once quantum computers arrive.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PQC Performance Bottleneck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Post-quantum keys and signatures are kilobyte-scale (1KB–3KB vs 32B). Naive serial hybrid implementations cause severe latency spikes (50+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network packet fragmentation, making real-time VPN tunnels unusable.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64376" y="214273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436812" y="9127827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840028" y="9153702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48400" y="1923006"/>
            <a:ext cx="5367990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IBM Plex Sans"/>
                <a:cs typeface="Times New Roman" panose="02020603050405020304" pitchFamily="18" charset="0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650478" y="2999239"/>
            <a:ext cx="11502452" cy="6447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99"/>
              </a:lnSpc>
              <a:spcBef>
                <a:spcPct val="0"/>
              </a:spcBef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Faces This Problem: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Defense networks, government agencies, global financial institutions (SWIFT/inter-bank), enterprise remote workforces, and critical cloud infrastructure.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Permanent Data Compromise: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Intellectual property, military secrets, and long-term financial/medical records require 20–30 years of confidentiality. If harvested today, their secrecy is permanently broken under HNDL.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High-Concurrency Gateway Bottlenecks: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 VPN concentrators cannot tolerate serial hybrid handshake delays (&gt;110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round-trips), leading to dropped sessions and severe throughput loss.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Urgent Compliance Mandate: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NSA CNSA 2.0 and NIST mandates require organizations to transition to post-quantum standards immediately; migration cannot wait for quantum hardware supremacy.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97559" y="2070363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21695" y="9127827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528057" y="9158768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632406" y="1789351"/>
            <a:ext cx="4012244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5508584" y="2045339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5503666" y="1893761"/>
            <a:ext cx="74987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IBM Plex Sans"/>
                <a:cs typeface="Times New Roman" panose="02020603050405020304" pitchFamily="18" charset="0"/>
                <a:sym typeface="IBM Plex Sans"/>
              </a:rPr>
              <a:t>PROPOSEDS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703745" y="2819543"/>
            <a:ext cx="13098542" cy="6640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  <a:spcBef>
                <a:spcPct val="0"/>
              </a:spcBef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PQC H-365: A production-grade, quantum-resistant hybrid VPN and multi-message secure transport protocol engineered in native C.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919"/>
              </a:lnSpc>
              <a:spcBef>
                <a:spcPct val="0"/>
              </a:spcBef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Dual-Security Hybrid Paradigm: Fuses classical X25519 (ECDH) with NIST FIPS 203 (ML-KEM-768) via RFC 5869 HKDF-SHA256. Adversaries must break BOTH classical elliptic curves AND lattice math to compromise the key.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Mutual Post-Quantum Authentication (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mPQC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Implements NIST FIPS 204 (ML-DSA-65) transcript digital signatures, eliminating quantum Man-in-the-Middle (MitM) and active downgrade attacks.</a:t>
            </a: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Parallelized Handshake Acceleration: Asynchronous POSIX multithreaded key exchange pipeline that computes X25519 and ML-KEM-768 concurrently, slashing handshake latency to ~11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Replay-Protected Multi-Message Transport: AES-256-GCM authenticated transport binding 64-bit monotonic sequence numbers to prevent packet replay, injection, and reflection attacks.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77046" y="1912811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427610" y="9064888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212814" y="9291619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906921" y="1785265"/>
            <a:ext cx="3533419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20242" y="1986053"/>
            <a:ext cx="4220097" cy="495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14842" y="2880859"/>
            <a:ext cx="16058316" cy="6950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Existential Quantum Threat: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threat is fundamental mathematics. Only quantum-resistant mathematical lattices (Module-LWE and Module-SIS) provide provable security against Shor's algorithm.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NIST Standards Alignment: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Adheres strictly to the newly finalized NIST Post-Quantum Cryptography standards: FIPS 203 (ML-KEM-768) and FIPS 204 (ML-DSA-65).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Why Classical Hardening Fails: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Simply increasing classical RSA or ECC key lengths does not prevent quantum polynomial-time attacks. Lattice-based post-quantum primitives are mathematically mandatory.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Bridging Quantum Theory to Real-World Networks: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quantum computers are being built, PQC H-365 provides the critical quantum-safe transport layer that secures data transmission across today's global internet.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97559" y="241025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590800" y="8687879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2908531" y="8628409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797750" y="1785265"/>
            <a:ext cx="5382396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5446826" y="1939862"/>
            <a:ext cx="7555540" cy="4181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8898" y="2936267"/>
            <a:ext cx="16387524" cy="608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High-Performance C Engine: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Engineered in native C utilizing Open Quantum Safe (liboqs 0.10.0) and OpenSSL for cryptographic acceleration.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POSIX Multithreaded Pipeline: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Worker thread pool decouples classical and post-quantum key generation, capping crypto execution time to max(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T_classical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T_pqc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Zero-Copy Adaptive Framing Subsystem: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Length-prefixed framing dynamically fragments and reassembles variable-length PQC frames up to 4,096 bytes with strict boundary enforcement.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Replay-Protected Wire Format: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Wire structure [8B Monotonic Counter | 16B GCM Tag | Ciphertext] with AAD binding 'PQC_H365_CHANNEL_V1' and authenticated session teardown (QUIT).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Linux Network Integration: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across Linux network interfaces (Ubuntu Server VM) with shared memory architecture and automated telemetry.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97559" y="198295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21695" y="904834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440500" y="9117632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868821" y="1794790"/>
            <a:ext cx="3925250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053028" y="2100226"/>
            <a:ext cx="5058211" cy="5001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87959" y="3051999"/>
            <a:ext cx="13886974" cy="6258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200000"/>
              </a:lnSpc>
              <a:spcBef>
                <a:spcPct val="0"/>
              </a:spcBef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Full Working Codebase: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and open-sourced at https://github.com/chipashacosmas/PQC-H365 with complete C source,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CMake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/Ninja build manifest, and automated test scripts.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Standalone KAT tests (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check_liboqs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test_ml_kem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test_ml_dsa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test_x25519,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test_hybrid_kdf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network binaries (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pqc_kem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pqc_hybrid_seq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pqc_hybrid_par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pqc_channel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Multi-Message Channel: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pqc_channel_server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pqc_channel_client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executing live hybrid handshakes, verified ML-DSA-65 signatures, monotonic counter increments, and encrypted messaging.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19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Automated Regression Test Runner: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./scripts/run_all_tests.sh executing all unit, framing, and network socket tests with a 100% pass rate.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Complete Suite of Executables: 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1694" y="1839463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-21771" y="9096485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534336" y="9183660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045033" y="1785265"/>
            <a:ext cx="3482300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5662195" y="178303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6656115" y="2005673"/>
            <a:ext cx="4260135" cy="4181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IBM Plex Sans"/>
                <a:cs typeface="Times New Roman" panose="02020603050405020304" pitchFamily="18" charset="0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80235" y="3320017"/>
            <a:ext cx="14015085" cy="5387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/>
              <a:t>• Empirical 20-Run Benchmark Findings: </a:t>
            </a:r>
            <a:r>
              <a:rPr sz="2400" dirty="0"/>
              <a:t>Classical X25519: 1.56 </a:t>
            </a:r>
            <a:r>
              <a:rPr sz="2400" dirty="0" err="1"/>
              <a:t>ms</a:t>
            </a:r>
            <a:r>
              <a:rPr sz="2400" dirty="0"/>
              <a:t> | ML-KEM-768: 8.43 </a:t>
            </a:r>
            <a:r>
              <a:rPr sz="2400" dirty="0" err="1"/>
              <a:t>ms</a:t>
            </a:r>
            <a:r>
              <a:rPr sz="2400" dirty="0"/>
              <a:t> | Sequential Hybrid: 55.56 </a:t>
            </a:r>
            <a:r>
              <a:rPr sz="2400" dirty="0" err="1"/>
              <a:t>ms</a:t>
            </a:r>
            <a:r>
              <a:rPr sz="2400" dirty="0"/>
              <a:t> client / 56.31 </a:t>
            </a:r>
            <a:r>
              <a:rPr sz="2400" dirty="0" err="1"/>
              <a:t>ms</a:t>
            </a:r>
            <a:r>
              <a:rPr sz="2400" dirty="0"/>
              <a:t> server | Parallel Hybrid (PQC H-365): 10.27 </a:t>
            </a:r>
            <a:r>
              <a:rPr sz="2400" dirty="0" err="1"/>
              <a:t>ms</a:t>
            </a:r>
            <a:r>
              <a:rPr sz="2400" dirty="0"/>
              <a:t> client / 11.79 </a:t>
            </a:r>
            <a:r>
              <a:rPr sz="2400" dirty="0" err="1"/>
              <a:t>ms</a:t>
            </a:r>
            <a:r>
              <a:rPr sz="2400" dirty="0"/>
              <a:t> server.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/>
              <a:t>• 81.5% Latency Reduction on Client &amp; 79.1% Reduction on Server: </a:t>
            </a:r>
            <a:r>
              <a:rPr sz="2400" dirty="0"/>
              <a:t>Confirms that post-quantum security is achievable with ~11 </a:t>
            </a:r>
            <a:r>
              <a:rPr sz="2400" dirty="0" err="1"/>
              <a:t>ms</a:t>
            </a:r>
            <a:r>
              <a:rPr sz="2400" dirty="0"/>
              <a:t> total latency, matching production network demands.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/>
              <a:t>•</a:t>
            </a:r>
            <a:r>
              <a:rPr lang="en-US" sz="2400" b="1" dirty="0"/>
              <a:t>Live Channel Verification: </a:t>
            </a:r>
            <a:r>
              <a:rPr sz="2400" b="1" dirty="0"/>
              <a:t> </a:t>
            </a:r>
            <a:r>
              <a:rPr sz="2400" dirty="0"/>
              <a:t>Verified identical SHA-256 session key derivation (59b7b6397a0ea3bd), monotonic counter validation (ctr=1, ctr=2), and authenticated clean shutdown.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b="1" dirty="0"/>
              <a:t>• Framing Boundary Verification: </a:t>
            </a:r>
            <a:r>
              <a:rPr sz="2400" dirty="0"/>
              <a:t>Validated 1184B, 3309B, 4096B frame delivery; correctly rejected 4097B oversized packets without memory leaks.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97559" y="2498381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64376" y="904834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392400" y="9137879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78577" y="1845248"/>
            <a:ext cx="2642092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792679" y="2453231"/>
            <a:ext cx="2951521" cy="4572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78859" y="3155200"/>
            <a:ext cx="14326443" cy="6427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Round 2 Enhancement Sprint (Oct 10 – 29):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Step 29 Linux TUN/TAP Integration: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Binding /dev/net/tun virtual interface (tun0) to route real OS-level IPv4/IPv6 packet flows.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eBPF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XDP In-Kernel Acceleration: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Implementing line-rate packet filter hooks in kernel space for ultra-fast AEAD decryption.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Multi-Path Link Aggregation: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Multiplexing encrypted AEAD frames across dual physical network interfaces for link failover and bonding.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Adversarial Network Fuzzing: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Scapy / Kali fuzzing testbed testing resistance to malformed quantum packets.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700">
                <a:solidFill>
                  <a:srgbClr val="1E293B"/>
                </a:solidFill>
                <a:latin typeface="IBM Plex Sans"/>
              </a:defRPr>
            </a:pP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Grand Finale (Bengaluru: Oct 30 – 31):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hardware demonstration of the physical tunnel with Wireshark packet capture analysis, active quantum stripping rejection, and telemetry dashboards.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3390" y="1966600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64376" y="9145888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4871316" y="9101171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675310" y="1785265"/>
            <a:ext cx="4381968" cy="75048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239"/>
              </a:lnSpc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4871317" y="1976542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6012330" y="2060600"/>
            <a:ext cx="6705852" cy="415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77278" y="2931166"/>
            <a:ext cx="15154395" cy="6950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NIST FIPS 203: Module-Lattice-Based Key-Encapsulation Mechanism Standard (ML-KEM), National Institute of Standards and Technology, 2024.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NIST FIPS 204: Module-Lattice-Based Digital Signature Standard (ML-DSA), National Institute of Standards and Technology, 2024.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RFC 5869: HMAC-based Extract-and-Expand Key Derivation Function (HKDF), Internet Engineering Task Force.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RFC 7748: Elliptic Curves for Security (X25519 &amp; X448), Internet Engineering Task Force.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NIST SP 800-38D: Recommendation for Block Cipher Modes of Operation: Galois/Counter Mode (GCM).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Open Quantum Safe (OQS): liboqs C library for quantum-resistant cryptographic algorithms (https://github.com/open-quantum-safe/liboqs).</a:t>
            </a:r>
          </a:p>
          <a:p>
            <a:pPr>
              <a:lnSpc>
                <a:spcPct val="150000"/>
              </a:lnSpc>
              <a:spcAft>
                <a:spcPts val="1200"/>
              </a:spcAft>
              <a:defRPr sz="1800">
                <a:solidFill>
                  <a:srgbClr val="1E293B"/>
                </a:solidFill>
                <a:latin typeface="IBM Plex San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Original Team Repository: PQC H-365 implementation, benchmarks, and documentation (https://github.com/chipashacosmas/PQC-H365).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1269</Words>
  <Application>Microsoft Office PowerPoint</Application>
  <PresentationFormat>Custom</PresentationFormat>
  <Paragraphs>76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IBM Plex Sans</vt:lpstr>
      <vt:lpstr>Calibri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dc:creator>365</dc:creator>
  <cp:lastModifiedBy>chipasha cosmas</cp:lastModifiedBy>
  <cp:revision>20</cp:revision>
  <dcterms:created xsi:type="dcterms:W3CDTF">2006-08-16T00:00:00Z</dcterms:created>
  <dcterms:modified xsi:type="dcterms:W3CDTF">2026-10-06T14:35:22Z</dcterms:modified>
  <dc:identifier>DAHWTXXNjRc</dc:identifier>
</cp:coreProperties>
</file>