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0647" y="2730987"/>
            <a:ext cx="5634028" cy="6185198"/>
            <a:chOff x="0" y="0"/>
            <a:chExt cx="15229294" cy="16719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29332" cy="16719131"/>
            </a:xfrm>
            <a:custGeom>
              <a:avLst/>
              <a:gdLst/>
              <a:ahLst/>
              <a:cxnLst/>
              <a:rect r="r" b="b" t="t" l="l"/>
              <a:pathLst>
                <a:path h="16719131" w="15229332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7" r="0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554011" y="1808824"/>
            <a:ext cx="5931138" cy="1977046"/>
          </a:xfrm>
          <a:custGeom>
            <a:avLst/>
            <a:gdLst/>
            <a:ahLst/>
            <a:cxnLst/>
            <a:rect r="r" b="b" t="t" l="l"/>
            <a:pathLst>
              <a:path h="1977046" w="5931138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91128" y="4301489"/>
            <a:ext cx="3086100" cy="613411"/>
            <a:chOff x="0" y="0"/>
            <a:chExt cx="812800" cy="1615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61557"/>
            </a:xfrm>
            <a:custGeom>
              <a:avLst/>
              <a:gdLst/>
              <a:ahLst/>
              <a:cxnLst/>
              <a:rect r="r" b="b" t="t" l="l"/>
              <a:pathLst>
                <a:path h="161557" w="812800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1128" y="5253037"/>
            <a:ext cx="4142956" cy="613411"/>
            <a:chOff x="0" y="0"/>
            <a:chExt cx="1091149" cy="1615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149" cy="161557"/>
            </a:xfrm>
            <a:custGeom>
              <a:avLst/>
              <a:gdLst/>
              <a:ahLst/>
              <a:cxnLst/>
              <a:rect r="r" b="b" t="t" l="l"/>
              <a:pathLst>
                <a:path h="161557" w="1091149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1128" y="6152199"/>
            <a:ext cx="2306166" cy="613411"/>
            <a:chOff x="0" y="0"/>
            <a:chExt cx="607385" cy="161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7385" cy="161557"/>
            </a:xfrm>
            <a:custGeom>
              <a:avLst/>
              <a:gdLst/>
              <a:ahLst/>
              <a:cxnLst/>
              <a:rect r="r" b="b" t="t" l="l"/>
              <a:pathLst>
                <a:path h="161557" w="607385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1128" y="7046598"/>
            <a:ext cx="5382396" cy="641986"/>
            <a:chOff x="0" y="0"/>
            <a:chExt cx="1417586" cy="1690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040466" y="491958"/>
            <a:ext cx="5063940" cy="701725"/>
          </a:xfrm>
          <a:custGeom>
            <a:avLst/>
            <a:gdLst/>
            <a:ahLst/>
            <a:cxnLst/>
            <a:rect r="r" b="b" t="t" l="l"/>
            <a:pathLst>
              <a:path h="701725" w="5063940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680" r="0" b="-92978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797895" y="180935"/>
            <a:ext cx="1288097" cy="1323772"/>
          </a:xfrm>
          <a:custGeom>
            <a:avLst/>
            <a:gdLst/>
            <a:ahLst/>
            <a:cxnLst/>
            <a:rect r="r" b="b" t="t" l="l"/>
            <a:pathLst>
              <a:path h="1323772" w="1288097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83426" y="378579"/>
            <a:ext cx="3690501" cy="1185729"/>
          </a:xfrm>
          <a:custGeom>
            <a:avLst/>
            <a:gdLst/>
            <a:ahLst/>
            <a:cxnLst/>
            <a:rect r="r" b="b" t="t" l="l"/>
            <a:pathLst>
              <a:path h="1185729" w="3690501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769" r="0" b="-781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66719" y="336677"/>
            <a:ext cx="3036860" cy="1012287"/>
          </a:xfrm>
          <a:custGeom>
            <a:avLst/>
            <a:gdLst/>
            <a:ahLst/>
            <a:cxnLst/>
            <a:rect r="r" b="b" t="t" l="l"/>
            <a:pathLst>
              <a:path h="1012287" w="3036860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634084" y="173017"/>
            <a:ext cx="2192261" cy="1276152"/>
          </a:xfrm>
          <a:custGeom>
            <a:avLst/>
            <a:gdLst/>
            <a:ahLst/>
            <a:cxnLst/>
            <a:rect r="r" b="b" t="t" l="l"/>
            <a:pathLst>
              <a:path h="1276152" w="2192261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6518" y="4263389"/>
            <a:ext cx="257115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defRPr sz="2800" b="1">
                <a:latin typeface="IBM Plex Sans"/>
              </a:defRPr>
            </a:pPr>
            <a:r>
              <a:t>Team Name: PQC H-365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7468" y="5200650"/>
            <a:ext cx="37114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defRPr sz="2400">
                <a:latin typeface="IBM Plex Sans"/>
              </a:defRPr>
            </a:pPr>
            <a:r>
              <a:t>Team Lead Name: Cosmas Chipasha (Kapasa Makasa University)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1877" y="6085524"/>
            <a:ext cx="1347142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defRPr sz="2400" b="1">
                <a:latin typeface="IBM Plex Sans"/>
              </a:defRPr>
            </a:pPr>
            <a:r>
              <a:t>Track: Quantum Security &amp; Cryptography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6518" y="7008498"/>
            <a:ext cx="501693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defRPr sz="2200">
                <a:latin typeface="IBM Plex Sans"/>
              </a:defRPr>
            </a:pPr>
            <a:r>
              <a:t>Problem Statement title: PQC H-365: Quantum-Resistant Hybrid VPN &amp; Multi-Message Secure Channel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1399" y="1893761"/>
            <a:ext cx="3009085" cy="641986"/>
            <a:chOff x="0" y="0"/>
            <a:chExt cx="79251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516" cy="169083"/>
            </a:xfrm>
            <a:custGeom>
              <a:avLst/>
              <a:gdLst/>
              <a:ahLst/>
              <a:cxnLst/>
              <a:rect r="r" b="b" t="t" l="l"/>
              <a:pathLst>
                <a:path h="169083" w="792516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969539" y="1887412"/>
            <a:ext cx="1492806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54018" y="4742774"/>
            <a:ext cx="10628591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• Shor's Algorithm on a Cryptanalytically Relevant Quantum Computer (CRQC) breaks all classical public-key algorithms based on discrete logarithms and integer factorization (RSA-2048, Diffie-Hellman, ECDH/X25519).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• Harvest Now, Decrypt Later (HNDL): Hostile adversaries and nation-states are actively recording and storing enterprise and defense encrypted network traffic today to decrypt retrospectively once quantum computers arrive.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• The PQC Performance Bottleneck: Post-quantum keys and signatures are kilobyte-scale (1KB–3KB vs 32B). Naive serial hybrid implementations cause severe latency spikes (50+ ms) and network packet fragmentation, making real-time VPN tunnels unusable.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3915" y="1893761"/>
            <a:ext cx="3272797" cy="641986"/>
            <a:chOff x="0" y="0"/>
            <a:chExt cx="86197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1971" cy="169083"/>
            </a:xfrm>
            <a:custGeom>
              <a:avLst/>
              <a:gdLst/>
              <a:ahLst/>
              <a:cxnLst/>
              <a:rect r="r" b="b" t="t" l="l"/>
              <a:pathLst>
                <a:path h="169083" w="861971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14703" y="1944244"/>
            <a:ext cx="2266474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Matters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99416" y="4839970"/>
            <a:ext cx="10489168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Who Faces This Problem: Defense networks, government agencies, global financial institutions (SWIFT/inter-bank), enterprise remote workforces, and critical cloud infrastructure.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Permanent Data Compromise: Intellectual property, military secrets, and long-term financial/medical records require 20–30 years of confidentiality. If harvested today, their secrecy is permanently broken under HNDL.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High-Concurrency Gateway Bottlenecks: Enterprise VPN concentrators cannot tolerate serial hybrid handshake delays (&gt;110 ms round-trips), leading to dropped sessions and severe throughput loss.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Urgent Compliance Mandate: NSA CNSA 2.0 and NIST mandates require organizations to transition to post-quantum standards immediately; migration cannot wait for quantum hardware supremacy.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71046" y="1893761"/>
            <a:ext cx="4012244" cy="641986"/>
            <a:chOff x="0" y="0"/>
            <a:chExt cx="1056723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6723" cy="169083"/>
            </a:xfrm>
            <a:custGeom>
              <a:avLst/>
              <a:gdLst/>
              <a:ahLst/>
              <a:cxnLst/>
              <a:rect r="r" b="b" t="t" l="l"/>
              <a:pathLst>
                <a:path h="169083" w="105672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638528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326063" y="1937259"/>
            <a:ext cx="3027283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94729" y="4801870"/>
            <a:ext cx="13098542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PQC H-365: A production-grade, quantum-resistant hybrid VPN and multi-message secure transport protocol engineered in native C.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Dual-Security Hybrid Paradigm: Fuses classical X25519 (ECDH) with NIST FIPS 203 (ML-KEM-768) via RFC 5869 HKDF-SHA256. Adversaries must break BOTH classical elliptic curves AND lattice math to compromise the key.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Mutual Post-Quantum Authentication (mPQC): Implements NIST FIPS 204 (ML-DSA-65) transcript digital signatures, eliminating quantum Man-in-the-Middle (MitM) and active downgrade attacks.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Parallelized Handshake Acceleration: Asynchronous POSIX multithreaded key exchange pipeline that computes X25519 and ML-KEM-768 concurrently, slashing handshake latency to ~11 ms.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Replay-Protected Multi-Message Transport: AES-256-GCM authenticated transport binding 64-bit monotonic sequence numbers to prevent packet replay, injection, and reflection attacks.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06921" y="1893761"/>
            <a:ext cx="3533419" cy="641986"/>
            <a:chOff x="0" y="0"/>
            <a:chExt cx="930612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0612" cy="169083"/>
            </a:xfrm>
            <a:custGeom>
              <a:avLst/>
              <a:gdLst/>
              <a:ahLst/>
              <a:cxnLst/>
              <a:rect r="r" b="b" t="t" l="l"/>
              <a:pathLst>
                <a:path h="169083" w="930612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35716" y="-2857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14703" y="1963294"/>
            <a:ext cx="234255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Quantum?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4842" y="4839970"/>
            <a:ext cx="16058316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Existential Quantum Threat: The threat is fundamental mathematics. Only quantum-resistant mathematical lattices (Module-LWE and Module-SIS) provide provable security against Shor's algorithm.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NIST Standards Alignment: Adheres strictly to the newly finalized NIST Post-Quantum Cryptography standards: FIPS 203 (ML-KEM-768) and FIPS 204 (ML-DSA-65).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Why Classical Hardening Fails: Simply increasing classical RSA or ECC key lengths does not prevent quantum polynomial-time attacks. Lattice-based post-quantum primitives are mathematically mandatory.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Bridging Quantum Theory to Real-World Networks: While quantum computers are being built, PQC H-365 provides the critical quantum-safe transport layer that secures data transmission across today's global internet.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97750" y="1893761"/>
            <a:ext cx="5382396" cy="641986"/>
            <a:chOff x="0" y="0"/>
            <a:chExt cx="141758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298992" y="1988059"/>
            <a:ext cx="4566285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and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1188" y="4609465"/>
            <a:ext cx="16387524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High-Performance C Engine: Engineered in native C utilizing Open Quantum Safe (liboqs 0.10.0) and OpenSSL for cryptographic acceleration.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POSIX Multithreaded Pipeline: Worker thread pool decouples classical and post-quantum key generation, capping crypto execution time to max(T_classical, T_pqc).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Zero-Copy Adaptive Framing Subsystem: Length-prefixed framing dynamically fragments and reassembles variable-length PQC frames up to 4,096 bytes with strict boundary enforcement.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Replay-Protected Wire Format: Wire structure [8B Monotonic Counter | 16B GCM Tag | Ciphertext] with AAD binding 'PQC_H365_CHANNEL_V1' and authenticated session teardown (QUIT).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Linux Network Integration: Verified across Linux network interfaces (Ubuntu Server VM) with shared memory architecture and automated telemetry.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8821" y="1903286"/>
            <a:ext cx="3925250" cy="641986"/>
            <a:chOff x="0" y="0"/>
            <a:chExt cx="103381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811" cy="169083"/>
            </a:xfrm>
            <a:custGeom>
              <a:avLst/>
              <a:gdLst/>
              <a:ahLst/>
              <a:cxnLst/>
              <a:rect r="r" b="b" t="t" l="l"/>
              <a:pathLst>
                <a:path h="169083" w="1033811">
                  <a:moveTo>
                    <a:pt x="84541" y="0"/>
                  </a:moveTo>
                  <a:lnTo>
                    <a:pt x="949269" y="0"/>
                  </a:lnTo>
                  <a:cubicBezTo>
                    <a:pt x="971691" y="0"/>
                    <a:pt x="993195" y="8907"/>
                    <a:pt x="1009049" y="24762"/>
                  </a:cubicBezTo>
                  <a:cubicBezTo>
                    <a:pt x="1024904" y="40616"/>
                    <a:pt x="1033811" y="62120"/>
                    <a:pt x="1033811" y="84541"/>
                  </a:cubicBezTo>
                  <a:lnTo>
                    <a:pt x="1033811" y="84541"/>
                  </a:lnTo>
                  <a:cubicBezTo>
                    <a:pt x="1033811" y="106963"/>
                    <a:pt x="1024904" y="128467"/>
                    <a:pt x="1009049" y="144321"/>
                  </a:cubicBezTo>
                  <a:cubicBezTo>
                    <a:pt x="993195" y="160176"/>
                    <a:pt x="971691" y="169083"/>
                    <a:pt x="949269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3381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362389" y="1945514"/>
            <a:ext cx="291524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Minimal Prototype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0513" y="4839970"/>
            <a:ext cx="13886974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Full Working Codebase: Published and open-sourced at https://github.com/chipashacosmas/PQC-H365 with complete C source, CMake/Ninja build manifest, and automated test scripts.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Complete Suite of Executables: Standalone KAT tests (check_liboqs, test_ml_kem, test_ml_dsa, test_x25519, test_hybrid_kdf) and network binaries (pqc_kem, pqc_hybrid_seq, pqc_hybrid_par, pqc_channel).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Interactive Multi-Message Channel: pqc_channel_server &amp; pqc_channel_client executing live hybrid handshakes, verified ML-DSA-65 signatures, monotonic counter increments, and encrypted messaging.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• Automated Regression Test Runner: ./scripts/run_all_tests.sh executing all unit, framing, and network socket tests with a 100% pass rate.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45033" y="1893761"/>
            <a:ext cx="3482300" cy="641986"/>
            <a:chOff x="0" y="0"/>
            <a:chExt cx="91714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49" cy="169083"/>
            </a:xfrm>
            <a:custGeom>
              <a:avLst/>
              <a:gdLst/>
              <a:ahLst/>
              <a:cxnLst/>
              <a:rect r="r" b="b" t="t" l="l"/>
              <a:pathLst>
                <a:path h="169083" w="917149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550865" y="1969009"/>
            <a:ext cx="2641044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/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98357" y="4278023"/>
            <a:ext cx="14015085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Empirical 20-Run Benchmark Findings: Classical X25519: 1.56 ms | ML-KEM-768: 8.43 ms | Sequential Hybrid: 55.56 ms client / 56.31 ms server | Parallel Hybrid (PQC H-365): 10.27 ms client / 11.79 ms server.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81.5% Latency Reduction on Client &amp; 79.1% Reduction on Server: Confirms that post-quantum security is achievable with ~11 ms total latency, matching production network demands.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Live Channel Verification: Verified identical SHA-256 session key derivation (59b7b6397a0ea3bd), monotonic counter validation (ctr=1, ctr=2), and authenticated clean shutdown.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Framing Boundary Verification: Validated 1184B, 3309B, 4096B frame delivery; correctly rejected 4097B oversized packets without memory leaks.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98248" y="1922336"/>
            <a:ext cx="2642092" cy="641986"/>
            <a:chOff x="0" y="0"/>
            <a:chExt cx="695860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5860" cy="169083"/>
            </a:xfrm>
            <a:custGeom>
              <a:avLst/>
              <a:gdLst/>
              <a:ahLst/>
              <a:cxnLst/>
              <a:rect r="r" b="b" t="t" l="l"/>
              <a:pathLst>
                <a:path h="169083" w="695860">
                  <a:moveTo>
                    <a:pt x="84541" y="0"/>
                  </a:moveTo>
                  <a:lnTo>
                    <a:pt x="611318" y="0"/>
                  </a:lnTo>
                  <a:cubicBezTo>
                    <a:pt x="633740" y="0"/>
                    <a:pt x="655243" y="8907"/>
                    <a:pt x="671098" y="24762"/>
                  </a:cubicBezTo>
                  <a:cubicBezTo>
                    <a:pt x="686953" y="40616"/>
                    <a:pt x="695860" y="62120"/>
                    <a:pt x="695860" y="84541"/>
                  </a:cubicBezTo>
                  <a:lnTo>
                    <a:pt x="695860" y="84541"/>
                  </a:lnTo>
                  <a:cubicBezTo>
                    <a:pt x="695860" y="106963"/>
                    <a:pt x="686953" y="128467"/>
                    <a:pt x="671098" y="144321"/>
                  </a:cubicBezTo>
                  <a:cubicBezTo>
                    <a:pt x="655243" y="160176"/>
                    <a:pt x="633740" y="169083"/>
                    <a:pt x="61131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95860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90242" y="-23683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499623" y="1988059"/>
            <a:ext cx="1306116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Roadmap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80779" y="4839970"/>
            <a:ext cx="14326443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Round 2 Enhancement Sprint (Oct 10 – 29):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  • Step 29 Linux TUN/TAP Integration: Binding /dev/net/tun virtual interface (tun0) to route real OS-level IPv4/IPv6 packet flows.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  • eBPF / XDP In-Kernel Acceleration: Implementing line-rate packet filter hooks in kernel space for ultra-fast AEAD decryption.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  • Multi-Path Link Aggregation: Multiplexing encrypted AEAD frames across dual physical network interfaces for link failover and bonding.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  • Adversarial Network Fuzzing: Scapy / Kali fuzzing testbed testing resistance to malformed quantum packets.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• Grand Finale (Bengaluru: Oct 30 – 31): Live hardware demonstration of the physical tunnel with Wireshark packet capture analysis, active quantum stripping rejection, and telemetry dashboards.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75310" y="1893761"/>
            <a:ext cx="4381968" cy="641986"/>
            <a:chOff x="0" y="0"/>
            <a:chExt cx="115409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4099" cy="169083"/>
            </a:xfrm>
            <a:custGeom>
              <a:avLst/>
              <a:gdLst/>
              <a:ahLst/>
              <a:cxnLst/>
              <a:rect r="r" b="b" t="t" l="l"/>
              <a:pathLst>
                <a:path h="169083" w="1154099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391149" y="2009332"/>
            <a:ext cx="30206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and Sources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6803" y="4911911"/>
            <a:ext cx="15154395" cy="43891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NIST FIPS 203: Module-Lattice-Based Key-Encapsulation Mechanism Standard (ML-KEM), National Institute of Standards and Technology, 2024.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NIST FIPS 204: Module-Lattice-Based Digital Signature Standard (ML-DSA), National Institute of Standards and Technology, 2024.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RFC 5869: HMAC-based Extract-and-Expand Key Derivation Function (HKDF), Internet Engineering Task Force.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RFC 7748: Elliptic Curves for Security (X25519 &amp; X448), Internet Engineering Task Force.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NIST SP 800-38D: Recommendation for Block Cipher Modes of Operation: Galois/Counter Mode (GCM).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Open Quantum Safe (OQS): liboqs C library for quantum-resistant cryptographic algorithms (https://github.com/open-quantum-safe/liboqs).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• Original Team Repository: PQC H-365 implementation, benchmarks, and documentation (https://github.com/chipashacosmas/PQC-H365).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DAHWTXXNjRc</dc:identifier>
  <dcterms:modified xsi:type="dcterms:W3CDTF">2011-08-01T06:04:30Z</dcterms:modified>
  <cp:revision>1</cp:revision>
  <dc:title>Q-Hack_India26</dc:title>
</cp:coreProperties>
</file>